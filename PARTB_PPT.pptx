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6" d="100"/>
          <a:sy n="116" d="100"/>
        </p:scale>
        <p:origin x="490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0D1F3C"/>
                </a:solidFill>
                <a:latin typeface="Calibri"/>
              </a:rPr>
              <a:t>BER vs SNR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</c:v>
                </c:pt>
              </c:strCache>
            </c:strRef>
          </c:tx>
          <c:spPr>
            <a:ln w="25400" cap="flat">
              <a:solidFill>
                <a:srgbClr val="1E4E7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4E79"/>
              </a:solidFill>
              <a:ln w="9525" cap="flat">
                <a:solidFill>
                  <a:srgbClr val="1E4E7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0.50449999999999995</c:v>
                </c:pt>
                <c:pt idx="1">
                  <c:v>0.24740000000000001</c:v>
                </c:pt>
                <c:pt idx="2">
                  <c:v>0.2064</c:v>
                </c:pt>
                <c:pt idx="3">
                  <c:v>9.9099999999999994E-2</c:v>
                </c:pt>
                <c:pt idx="4">
                  <c:v>7.7299999999999994E-2</c:v>
                </c:pt>
                <c:pt idx="5">
                  <c:v>4.7199999999999999E-2</c:v>
                </c:pt>
                <c:pt idx="6">
                  <c:v>3.2599999999999997E-2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42-4E5A-ABC6-8C2BC56917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Hamming</c:v>
                </c:pt>
              </c:strCache>
            </c:strRef>
          </c:tx>
          <c:spPr>
            <a:ln w="25400" cap="flat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0.50060000000000004</c:v>
                </c:pt>
                <c:pt idx="1">
                  <c:v>0.34639999999999999</c:v>
                </c:pt>
                <c:pt idx="2">
                  <c:v>0.19570000000000001</c:v>
                </c:pt>
                <c:pt idx="3">
                  <c:v>9.5500000000000002E-2</c:v>
                </c:pt>
                <c:pt idx="4">
                  <c:v>4.8099999999999997E-2</c:v>
                </c:pt>
                <c:pt idx="5">
                  <c:v>2.1000000000000001E-2</c:v>
                </c:pt>
                <c:pt idx="6">
                  <c:v>7.3000000000000001E-3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42-4E5A-ABC6-8C2BC5691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B6577"/>
                    </a:solidFill>
                    <a:latin typeface="Arial"/>
                  </a:rPr>
                  <a:t>SNR (dB)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0D1F3C"/>
                </a:solidFill>
                <a:latin typeface="Calibri"/>
              </a:rPr>
              <a:t>Throughput (%) vs SNR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</c:v>
                </c:pt>
              </c:strCache>
            </c:strRef>
          </c:tx>
          <c:spPr>
            <a:ln w="25400" cap="flat">
              <a:solidFill>
                <a:srgbClr val="1E4E7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4E79"/>
              </a:solidFill>
              <a:ln w="9525" cap="flat">
                <a:solidFill>
                  <a:srgbClr val="1E4E7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9.44</c:v>
                </c:pt>
                <c:pt idx="1">
                  <c:v>14.34</c:v>
                </c:pt>
                <c:pt idx="2">
                  <c:v>45.35</c:v>
                </c:pt>
                <c:pt idx="3">
                  <c:v>51.48</c:v>
                </c:pt>
                <c:pt idx="4">
                  <c:v>92.27</c:v>
                </c:pt>
                <c:pt idx="5">
                  <c:v>95.28</c:v>
                </c:pt>
                <c:pt idx="6">
                  <c:v>96.74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08-44B0-9FD6-38349DE8C0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Hamming</c:v>
                </c:pt>
              </c:strCache>
            </c:strRef>
          </c:tx>
          <c:spPr>
            <a:ln w="25400" cap="flat">
              <a:solidFill>
                <a:srgbClr val="C55A1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28.54</c:v>
                </c:pt>
                <c:pt idx="1">
                  <c:v>37.35</c:v>
                </c:pt>
                <c:pt idx="2">
                  <c:v>45.96</c:v>
                </c:pt>
                <c:pt idx="3">
                  <c:v>51.69</c:v>
                </c:pt>
                <c:pt idx="4">
                  <c:v>54.39</c:v>
                </c:pt>
                <c:pt idx="5">
                  <c:v>55.94</c:v>
                </c:pt>
                <c:pt idx="6">
                  <c:v>56.73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08-44B0-9FD6-38349DE8C0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577"/>
                    </a:solidFill>
                    <a:latin typeface="Arial"/>
                  </a:defRPr>
                </a:pPr>
                <a:r>
                  <a:rPr lang="en-IN" sz="900" b="0" i="0" u="none" strike="noStrike">
                    <a:solidFill>
                      <a:srgbClr val="5B6577"/>
                    </a:solidFill>
                    <a:latin typeface="Arial"/>
                  </a:rPr>
                  <a:t>SNR (dB)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F3C"/>
                </a:solidFill>
                <a:latin typeface="Calibri"/>
              </a:defRPr>
            </a:pPr>
            <a:r>
              <a:rPr lang="en-IN" sz="1100" b="0" i="0" u="none" strike="noStrike">
                <a:solidFill>
                  <a:srgbClr val="0D1F3C"/>
                </a:solidFill>
                <a:latin typeface="Calibri"/>
              </a:rPr>
              <a:t>Adaptive redundancy factor vs SNR (dB)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Adaptive redundancy</c:v>
                </c:pt>
              </c:strCache>
            </c:strRef>
          </c:tx>
          <c:spPr>
            <a:solidFill>
              <a:srgbClr val="006E7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5.25</c:v>
                </c:pt>
                <c:pt idx="1">
                  <c:v>5.25</c:v>
                </c:pt>
                <c:pt idx="2">
                  <c:v>1.75</c:v>
                </c:pt>
                <c:pt idx="3">
                  <c:v>1.75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FF-4D8E-816C-C47388D27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635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29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course (Computer Networks) and the project topic: an adaptive error-correction system that changes its coding strength with channel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Wireless links flip bits. Error-control coding adds redundancy so the receiver can fix them, but strong coding wastes bandwidth when the channel is good. This project chooses the coding strength from the SNR.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takes random data and an SNR value, chooses a coding level, sends the coded bits through a simulated noisy channel and reports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objectives: from studying the effect of noise to analysing the reliability and efficiency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 corrects errors at the receiver without retransmission and is the approach used here. Hamming (7,4) corrects one error per block; triple repetition uses majority voting.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codes like LDPC and Polar are used in 5G NR but are complex. This project uses simple established codes and focuses on the adaptive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flowchart from top to bottom. The loop repeats until every SNR value has been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stages from data generation to performance analysis. The controller is the only adaptive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controller follows one rule: stronger protection when the channel is poor, less redundancy when it is good. Redundancy is 1.00, 1.75 and 5.25 for the three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simulation run per SNR value; the same experiment is then repeated with fixed Hamming (7,4)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Hamming places parity bits at positions 1, 2 and 4. For Level 3 every Hamming bit is also tripled, and the receiver first takes a majority vote.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10,000 bits per SNR value, SNR from 0 to 12 dB. The adaptive system switches levels at 4 dB and 8 dB. Results come from adaptive_results.csv and fixed_results.csv.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 falls as SNR rises for both systems. Adaptive throughput jumps when the controller switches to Level 1 at 8 dB, while fixed Hamming stays near 55%.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12 dB the adaptive system trades some reliability for much higher efficiency. The redundancy chart shows the three levels used across the SNR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scope: this is a simulation with a simplified channel, not a physical-layer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concept applies wherever channel quality changes. Future work makes the channel and the controller more realistic.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linking back to the trade-off: coding strength should follow channel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86968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F7A600"/>
          </a:solidFill>
          <a:ln/>
        </p:spPr>
      </p:sp>
      <p:pic>
        <p:nvPicPr>
          <p:cNvPr id="4" name="Image 0" descr="/tmp/w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36576"/>
            <a:ext cx="731520" cy="832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37176"/>
            <a:ext cx="9144000" cy="30632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837176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864608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www.sanjivanicoe.org.in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F7A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/tmp/w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773168"/>
            <a:ext cx="310896" cy="356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4818888"/>
            <a:ext cx="18288" cy="274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7548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  |  Department of Computer Engineering  |  T.Y. B.Tech Computer Engineering</a:t>
            </a:r>
            <a:endParaRPr lang="en-US" sz="900" dirty="0"/>
          </a:p>
        </p:txBody>
      </p:sp>
      <p:sp>
        <p:nvSpPr>
          <p:cNvPr id="8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1560" y="548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57200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Autonomous Institute, Affiliated to SPPU, Pune)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649224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NBA Tier-1 Accredited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E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Networks CIA Activity Presentation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T.Y. B.Tech – Computer Engineering  |  AY 2026–2027  |  Div-[ A]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DCE9F5"/>
          </a:solidFill>
          <a:ln w="15875">
            <a:solidFill>
              <a:srgbClr val="1E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07568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Error Correction for High-Noise Wireless Communication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017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246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  |  Palande Siddharth  |  </a:t>
            </a:r>
            <a:r>
              <a:rPr lang="en-US" sz="12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Deokar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Aditya | Chavan Aniket 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36576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N. </a:t>
            </a:r>
            <a:r>
              <a:rPr lang="en-US" sz="1300" b="1" dirty="0" err="1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Kalavadekar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160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932688"/>
            <a:ext cx="4352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“Use strong protection when the channel is poor, and save bandwidth when it is good.”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4572000" cy="2834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channels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suffer noise, interference and fading, which flip bits from 0 to 1 or 1 to 0.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Error-control coding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controlled redundancy so the receiver can detect or correct errors.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code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wastes bandwidth on good channels and may be too weak on bad ones.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simulation that selects the coding level from SNR and reports BER, throughput and redundancy.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03520" y="914400"/>
            <a:ext cx="3383280" cy="3611880"/>
          </a:xfrm>
          <a:prstGeom prst="roundRect">
            <a:avLst>
              <a:gd name="adj" fmla="val 1622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0" y="960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wireless link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32588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E4E7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1325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1 0 1 1 0 1 0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95160" y="1828800"/>
            <a:ext cx="0" cy="27432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577840" y="2103120"/>
            <a:ext cx="2834640" cy="868680"/>
          </a:xfrm>
          <a:prstGeom prst="roundRect">
            <a:avLst>
              <a:gd name="adj" fmla="val 5263"/>
            </a:avLst>
          </a:prstGeom>
          <a:solidFill>
            <a:srgbClr val="FDF3E7"/>
          </a:solidFill>
          <a:ln w="15875">
            <a:solidFill>
              <a:srgbClr val="C55A1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21031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channel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 •  Interference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Attenuation  •  Fading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95160" y="2971800"/>
            <a:ext cx="0" cy="27432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3246120"/>
            <a:ext cx="21031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E4E7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3246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1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b="1" dirty="0">
                <a:solidFill>
                  <a:srgbClr val="1E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1 1 0 </a:t>
            </a:r>
            <a:r>
              <a:rPr lang="en-US" sz="12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200" b="1" dirty="0">
                <a:solidFill>
                  <a:srgbClr val="1E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bits = transmission errors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932688"/>
            <a:ext cx="79552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simulation-based wireless system that selects the error-correction strength according to channel conditions, balancing data reliability and transmission efficiency.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87452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9842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channel quality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88920"/>
            <a:ext cx="2432304" cy="1691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binary data (10,000 bits)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value from 0 to 12 dB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(bit-flip) probability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64408" y="187452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74136" y="19842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74136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374136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coding and decoding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55848" y="2788920"/>
            <a:ext cx="2432304" cy="1691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coding level from SNR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send through noisy channel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at the receiver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71616" y="1874520"/>
            <a:ext cx="2615184" cy="2697480"/>
          </a:xfrm>
          <a:prstGeom prst="roundRect">
            <a:avLst>
              <a:gd name="adj" fmla="val 2098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81344" y="1984248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81344" y="1984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163056" y="2788920"/>
            <a:ext cx="2432304" cy="1691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Error Rate and error count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throughput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factor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601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2529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005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effect of noise on wireless binary data transmission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9601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0" y="1225296"/>
            <a:ext cx="274320" cy="274320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225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0058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noisy wireless communication channel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8745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13969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Hamming (7,4) and triple repetition coding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18745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0600" y="2139696"/>
            <a:ext cx="274320" cy="274320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19202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SNR-based adaptive controller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27889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305409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2834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error-correction level dynamically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27889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00600" y="3054096"/>
            <a:ext cx="274320" cy="274320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212080" y="28346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BER, throughput and redundancy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7200" y="37033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" y="396849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0584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adaptive coding with fixed Hamming (7,4)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663440" y="370332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800600" y="3968496"/>
            <a:ext cx="274320" cy="274320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5212080" y="3749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reliability–efficiency trade-off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Theoretical Background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Control Approaches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11887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redundancy; receiver corrects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bits 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errors; request retransmission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and extra traffic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 2"/>
          <p:cNvSpPr txBox="1"/>
          <p:nvPr/>
        </p:nvSpPr>
        <p:spPr>
          <a:xfrm>
            <a:off x="457200" y="24231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focuses on FEC (highlighted).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457200" y="2788920"/>
            <a:ext cx="4206240" cy="1783080"/>
          </a:xfrm>
          <a:prstGeom prst="roundRect">
            <a:avLst>
              <a:gd name="adj" fmla="val 3077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adaptive coding?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127248"/>
            <a:ext cx="4023360" cy="1371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channel: strong coding only adds overhead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channel: weak coding leaves many errors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coding to SNR balances both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892040" y="914400"/>
            <a:ext cx="3794760" cy="1874520"/>
          </a:xfrm>
          <a:prstGeom prst="roundRect">
            <a:avLst>
              <a:gd name="adj" fmla="val 2927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029200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Hamming (7,4) Code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02920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7,  k = 4,  rate = 4/7 ≈ 0.571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1554480"/>
            <a:ext cx="3611880" cy="12344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bits become 7 coded bits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bits found by XOR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gives the error position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a single-bit error per block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92040" y="2926080"/>
            <a:ext cx="3794760" cy="164592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2920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Triple Repetition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E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000        1 → 111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983480" y="3611880"/>
            <a:ext cx="3611880" cy="914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coded bit is sent three times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uses majority voting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one flipped bit in three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Survey and Research Gap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this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(7,4)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Corrects a single-bit error per block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 repetition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voting over three copies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parity-check codes; 5G NR data 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polarisation; 5G NR control channels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DF3E7"/>
          </a:solidFill>
          <a:ln w="9525">
            <a:solidFill>
              <a:srgbClr val="EAD3B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3" name="Text 3"/>
          <p:cNvSpPr txBox="1"/>
          <p:nvPr/>
        </p:nvSpPr>
        <p:spPr>
          <a:xfrm>
            <a:off x="594360" y="331012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codes are costly to implement in a small educational project. A simple, understandable simulation showing how coding strength follows channel quality is needed.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80060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800600" y="331012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code. Existing codes are used as building blocks, and the work focuses on the adaptive selection of coding strength using SNR.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89611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896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10,000 bits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965960" y="1243584"/>
            <a:ext cx="0" cy="128016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40080" y="137160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coding level (SNR)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965960" y="1719072"/>
            <a:ext cx="0" cy="128016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0080" y="1847088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8470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data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965960" y="2194560"/>
            <a:ext cx="0" cy="128016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0080" y="2322576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3225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through noisy channel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965960" y="2670048"/>
            <a:ext cx="0" cy="128016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0080" y="2798064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7980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and measure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965960" y="3145536"/>
            <a:ext cx="0" cy="128016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960120" y="3291840"/>
            <a:ext cx="2011680" cy="685800"/>
          </a:xfrm>
          <a:prstGeom prst="diamond">
            <a:avLst/>
          </a:prstGeom>
          <a:solidFill>
            <a:srgbClr val="F3B6E0"/>
          </a:solidFill>
          <a:ln w="12700">
            <a:solidFill>
              <a:srgbClr val="B5379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012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SNR values?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971800" y="3634740"/>
            <a:ext cx="457200" cy="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29000" y="1069848"/>
            <a:ext cx="0" cy="2564892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91840" y="1069848"/>
            <a:ext cx="137160" cy="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 flipH="1">
            <a:off x="3429000" y="1069848"/>
            <a:ext cx="0" cy="0"/>
          </a:xfrm>
          <a:prstGeom prst="line">
            <a:avLst/>
          </a:prstGeom>
          <a:noFill/>
          <a:ln w="127">
            <a:solidFill>
              <a:srgbClr val="5B657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017520" y="34290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65960" y="3977640"/>
            <a:ext cx="0" cy="18288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2011680" y="3977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" y="4160520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FFF4CC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160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 and compare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931920" y="96012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3192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343400" y="8961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34340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random bits for every SNR value.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931920" y="1572768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93192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43400" y="15087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Controller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4343400" y="1746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Level 1, 2 or 3 from the SNR.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931920" y="218541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93192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4343400" y="212140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343400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no coding, Hamming or Hamming + repetition.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931920" y="2798064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93192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343400" y="27340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Channel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43434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bits with a probability set by the SNR.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931920" y="3410712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931920" y="3410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343400" y="33467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4343400" y="3584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and Hamming decoding recover the data.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3931920" y="4023360"/>
            <a:ext cx="274320" cy="274320"/>
          </a:xfrm>
          <a:prstGeom prst="ellipse">
            <a:avLst/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319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4343400" y="395935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4343400" y="41970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BER, throughput and redundancy; compared with fixed Hamming.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96112"/>
            <a:ext cx="27432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0D1F3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896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Data Generator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1828800" y="1243584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57200" y="1389888"/>
            <a:ext cx="274320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Controller (SNR)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828800" y="1737360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57200" y="1883664"/>
            <a:ext cx="27432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0D1F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/ Level 2 / Level 3 Encoder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828800" y="2231136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57200" y="2377440"/>
            <a:ext cx="27432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0D1F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Channel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28800" y="2724912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57200" y="2871216"/>
            <a:ext cx="27432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0D1F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8712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Decoder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828800" y="3218688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57200" y="3364992"/>
            <a:ext cx="2743200" cy="347472"/>
          </a:xfrm>
          <a:prstGeom prst="rect">
            <a:avLst/>
          </a:prstGeom>
          <a:solidFill>
            <a:srgbClr val="FFFFFF"/>
          </a:solidFill>
          <a:ln w="15875">
            <a:solidFill>
              <a:srgbClr val="0D1F3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828800" y="3712464"/>
            <a:ext cx="0" cy="146304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57200" y="3858768"/>
            <a:ext cx="2743200" cy="347472"/>
          </a:xfrm>
          <a:prstGeom prst="rect">
            <a:avLst/>
          </a:prstGeom>
          <a:solidFill>
            <a:srgbClr val="FFF4CC"/>
          </a:solidFill>
          <a:ln w="15875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7200" y="3858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/ Throughput / Redundancy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520440" y="896112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630168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3630168" y="124358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10,000 random bits (0s and 1s) per run.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72200" y="896112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81928" y="9509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Controller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281928" y="124358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level using thresholds of 4 dB and 8 dB.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520440" y="2157984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30168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3630168" y="25054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coding, Hamming (7,4), or Hamming plus triple repetition.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172200" y="2157984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81928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Channel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281928" y="25054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bit flips; lower SNR gives higher flip probability.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3520440" y="3419856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30168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3630168" y="37673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vote, then Hamming decode, depending on level.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172200" y="3419856"/>
            <a:ext cx="251460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81928" y="3474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Module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6281928" y="37673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BER, throughput, redundancy, error count; CSV output.</a:t>
            </a:r>
            <a:endParaRPr lang="en-US" sz="11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Coding Levels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53619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Condition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error correction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≥ 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(7,4)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≤ SNR &lt; 8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  (7/4)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(7,4) + triple repetition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&lt; 4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  (7/4 × 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2697480"/>
            <a:ext cx="4023360" cy="1874520"/>
          </a:xfrm>
          <a:prstGeom prst="roundRect">
            <a:avLst>
              <a:gd name="adj" fmla="val 2927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0358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SNR &gt;= 8 dB      -&gt; Level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SNR &gt;= 4 dB -&gt; Level 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              -&gt; Level 3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4114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predefined and fixed.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663440" y="2697480"/>
            <a:ext cx="4023360" cy="1874520"/>
          </a:xfrm>
          <a:prstGeom prst="roundRect">
            <a:avLst>
              <a:gd name="adj" fmla="val 2927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3" name="Text 6"/>
          <p:cNvSpPr txBox="1"/>
          <p:nvPr/>
        </p:nvSpPr>
        <p:spPr>
          <a:xfrm>
            <a:off x="480060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800600" y="303580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channel → strong protection → high redundancy → lower efficiency.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channel → little or no protection → low redundancy → higher efficiency.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error correction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10,000 random bits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noise probability from the SNR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Level 1, 2 or 3 using the thresholds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97180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Encode, pass through the noisy channel, decode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52044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BER, throughput and redundancy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069080"/>
            <a:ext cx="274320" cy="274320"/>
          </a:xfrm>
          <a:prstGeom prst="ellipse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6868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all SNRs, then run fixed Hamming and compare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37760" y="914400"/>
            <a:ext cx="3749040" cy="3657600"/>
          </a:xfrm>
          <a:prstGeom prst="roundRect">
            <a:avLst>
              <a:gd name="adj" fmla="val 15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74920" y="960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Pseudocode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074920" y="1280160"/>
            <a:ext cx="3520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SNR in 0, 2, 4, ... 12: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  = generate(10000)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    = noiseProb(SNR)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 = selectLevel(SNR)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coded = encode(data, level)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rx    = noisyChannel(coded, 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   = decode(rx, level)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BER   = errors(data, out) / 10000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store(BER, throughput, redundancy)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with fixed Hamming (7,4)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 adaptive and fixed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Coding Working Example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Hamming (7,4) bit positions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530352" cy="411480"/>
          </a:xfrm>
          <a:prstGeom prst="rect">
            <a:avLst/>
          </a:prstGeom>
          <a:solidFill>
            <a:srgbClr val="006E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24128" y="1234440"/>
            <a:ext cx="530352" cy="411480"/>
          </a:xfrm>
          <a:prstGeom prst="rect">
            <a:avLst/>
          </a:prstGeom>
          <a:solidFill>
            <a:srgbClr val="006E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24128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24128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91056" y="1234440"/>
            <a:ext cx="530352" cy="411480"/>
          </a:xfrm>
          <a:prstGeom prst="rect">
            <a:avLst/>
          </a:prstGeom>
          <a:solidFill>
            <a:srgbClr val="1E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91056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591056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57984" y="1234440"/>
            <a:ext cx="530352" cy="411480"/>
          </a:xfrm>
          <a:prstGeom prst="rect">
            <a:avLst/>
          </a:prstGeom>
          <a:solidFill>
            <a:srgbClr val="006E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57984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57984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24912" y="1234440"/>
            <a:ext cx="530352" cy="411480"/>
          </a:xfrm>
          <a:prstGeom prst="rect">
            <a:avLst/>
          </a:prstGeom>
          <a:solidFill>
            <a:srgbClr val="1E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724912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2724912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1234440"/>
            <a:ext cx="530352" cy="411480"/>
          </a:xfrm>
          <a:prstGeom prst="rect">
            <a:avLst/>
          </a:prstGeom>
          <a:solidFill>
            <a:srgbClr val="1E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91840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58768" y="1234440"/>
            <a:ext cx="530352" cy="411480"/>
          </a:xfrm>
          <a:prstGeom prst="rect">
            <a:avLst/>
          </a:prstGeom>
          <a:solidFill>
            <a:srgbClr val="1E4E7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58768" y="1234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858768" y="16642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bits (P) are computed with XOR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calculates syndrome bits</a:t>
            </a:r>
            <a:endParaRPr lang="en-US" sz="10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value 1–7 is the error position; that bit is flipped back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pipeline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097280" y="3840480"/>
            <a:ext cx="82296" cy="0"/>
          </a:xfrm>
          <a:prstGeom prst="line">
            <a:avLst/>
          </a:prstGeom>
          <a:noFill/>
          <a:ln w="127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179576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79576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728216" y="3840480"/>
            <a:ext cx="82296" cy="0"/>
          </a:xfrm>
          <a:prstGeom prst="line">
            <a:avLst/>
          </a:prstGeom>
          <a:noFill/>
          <a:ln w="127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810512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810512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359152" y="3840480"/>
            <a:ext cx="82296" cy="0"/>
          </a:xfrm>
          <a:prstGeom prst="line">
            <a:avLst/>
          </a:prstGeom>
          <a:noFill/>
          <a:ln w="127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2441448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9525">
            <a:solidFill>
              <a:srgbClr val="C55A1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441448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990088" y="3840480"/>
            <a:ext cx="82296" cy="0"/>
          </a:xfrm>
          <a:prstGeom prst="line">
            <a:avLst/>
          </a:prstGeom>
          <a:noFill/>
          <a:ln w="127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3072384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072384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3621024" y="3840480"/>
            <a:ext cx="82296" cy="0"/>
          </a:xfrm>
          <a:prstGeom prst="line">
            <a:avLst/>
          </a:prstGeom>
          <a:noFill/>
          <a:ln w="1270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3703320" y="3611880"/>
            <a:ext cx="548640" cy="457200"/>
          </a:xfrm>
          <a:prstGeom prst="roundRect">
            <a:avLst>
              <a:gd name="adj" fmla="val 8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70332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4206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→ send → decode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Majority voting (triple repetition)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246888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Decoded 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" name="Text 45"/>
          <p:cNvSpPr txBox="1"/>
          <p:nvPr/>
        </p:nvSpPr>
        <p:spPr>
          <a:xfrm>
            <a:off x="4754880" y="3749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equals the bit that appears at least twice.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551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464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(dB)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Hamming (7,4)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= no coding, Level 2 = Hamming (7,4), Level 3 = Hamming + triple repetition. Fixed redundancy is always 1.75.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redundancy drops from 5.25 to 1.00 as SNR rises, and adaptive throughput reaches 96.74% at 12 dB.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Analysis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663440" y="914400"/>
            <a:ext cx="4023360" cy="3017520"/>
          </a:xfrm>
          <a:prstGeom prst="roundRect">
            <a:avLst>
              <a:gd name="adj" fmla="val 1818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502920" y="960120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709160" y="960120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3"/>
          <p:cNvSpPr/>
          <p:nvPr/>
        </p:nvSpPr>
        <p:spPr>
          <a:xfrm>
            <a:off x="457200" y="40233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FDF3E7"/>
          </a:solidFill>
          <a:ln w="9525">
            <a:solidFill>
              <a:srgbClr val="EAD3B5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566928" y="4023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BER is higher at 8 to 12 dB because coding is switched off.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663440" y="4023360"/>
            <a:ext cx="4023360" cy="566928"/>
          </a:xfrm>
          <a:prstGeom prst="roundRect">
            <a:avLst>
              <a:gd name="adj" fmla="val 9677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773168" y="4023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throughput gain comes from removing coding overhead.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vs Fixed Coding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206240" cy="3657600"/>
          </a:xfrm>
          <a:prstGeom prst="roundRect">
            <a:avLst>
              <a:gd name="adj" fmla="val 15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02920" y="96012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892040" y="868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at 12 dB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892040" y="11887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920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489204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0.0326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89204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89204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96.74%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1.00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858000" y="11887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DF3E7"/>
          </a:solidFill>
          <a:ln w="9525">
            <a:solidFill>
              <a:srgbClr val="EAD3B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Hamming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0.0073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6858000" y="215798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56.73%</a:t>
            </a:r>
            <a:endParaRPr lang="en-US" sz="17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6858000" y="2761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1.75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3063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92040" y="3520440"/>
            <a:ext cx="3794760" cy="1051560"/>
          </a:xfrm>
          <a:prstGeom prst="roundRect">
            <a:avLst>
              <a:gd name="adj" fmla="val 5217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001768" y="35204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Hamming gives lower BER, but sends more bits. Adaptive coding gives a better balance of reliability and efficiency.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 and Limitations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023360" cy="3657600"/>
          </a:xfrm>
          <a:prstGeom prst="roundRect">
            <a:avLst>
              <a:gd name="adj" fmla="val 1500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005840"/>
            <a:ext cx="329184" cy="329184"/>
          </a:xfrm>
          <a:prstGeom prst="ellipse">
            <a:avLst/>
          </a:prstGeom>
          <a:solidFill>
            <a:srgbClr val="2E7D32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005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SNR-based automatic selection of 3 coding levels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(7,4) and triple repetition implemented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BER, throughput, redundancy and errors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a fixed Hamming system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output for graphs and analysis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 Java program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023360" cy="3657600"/>
          </a:xfrm>
          <a:prstGeom prst="roundRect">
            <a:avLst>
              <a:gd name="adj" fmla="val 1500"/>
            </a:avLst>
          </a:prstGeom>
          <a:solidFill>
            <a:srgbClr val="FDF3E7"/>
          </a:solidFill>
          <a:ln w="9525">
            <a:solidFill>
              <a:srgbClr val="EAD3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005840"/>
            <a:ext cx="329184" cy="329184"/>
          </a:xfrm>
          <a:prstGeom prst="ellipse">
            <a:avLst/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1005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463040"/>
            <a:ext cx="3840480" cy="3017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simulation; no RF hardware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bit-flip channel, not AWGN/BPSK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predefined SNR thresholds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LDPC and Polar codes not implemented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channel estimation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fading, Doppler or synchronisation effects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and Applications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914400"/>
            <a:ext cx="4937760" cy="3657600"/>
          </a:xfrm>
          <a:prstGeom prst="roundRect">
            <a:avLst>
              <a:gd name="adj" fmla="val 15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9601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444752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1371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channel estimation using pilot symbols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975104"/>
            <a:ext cx="256032" cy="256032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901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AWGN, Rayleigh and Rician fading channels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50545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505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51560" y="24323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LDPC and Polar codes as extra coding options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035808"/>
            <a:ext cx="256032" cy="256032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96265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 predict the best coding level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566160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51560" y="3493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hardware: ESP32, SDR, Wi-Fi or LoRa modules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096512"/>
            <a:ext cx="256032" cy="256032"/>
          </a:xfrm>
          <a:prstGeom prst="ellipse">
            <a:avLst/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096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metrics: latency, energy, packet loss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577840" y="914400"/>
            <a:ext cx="3108960" cy="3657600"/>
          </a:xfrm>
          <a:prstGeom prst="roundRect">
            <a:avLst>
              <a:gd name="adj" fmla="val 1765"/>
            </a:avLst>
          </a:prstGeom>
          <a:solidFill>
            <a:srgbClr val="EEF6EF"/>
          </a:solidFill>
          <a:ln w="9525">
            <a:solidFill>
              <a:srgbClr val="BFD9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1500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1417320"/>
            <a:ext cx="2926080" cy="3017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sensor networks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communication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communication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communication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communication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>
            <a:spLocks noGrp="1"/>
          </p:cNvSpPr>
          <p:nvPr>
            <p:ph type="title" idx="106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60120"/>
            <a:ext cx="5577840" cy="35661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Java simulation selects one of three coding levels from the SNR.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coding is used at low SNR; overhead is reduced at high SNR.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 dB: 96.74% throughput and redundancy 1.00, against 56.73% and 1.75 for fixed Hamming.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Hamming gives lower BER at some high-SNR points but always carries overhead.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the core idea of adaptive error-control coding for variable wireless channels.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09360" y="96012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097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6E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96.74%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 12 dB (fixed: 56.73%)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834640"/>
            <a:ext cx="2377440" cy="169164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6E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at 12 dB (fixed: 1.75)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1560" y="548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051560" y="457200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Autonomous Institute, Affiliated to SPPU, Pune)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649224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NBA Tier-1 Accredited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B657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F7A60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2164</Words>
  <Application>Microsoft Office PowerPoint</Application>
  <PresentationFormat>On-screen Show (16:9)</PresentationFormat>
  <Paragraphs>459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Times New Roman</vt:lpstr>
      <vt:lpstr>Office Theme</vt:lpstr>
      <vt:lpstr>PowerPoint Presentation</vt:lpstr>
      <vt:lpstr>Introduction</vt:lpstr>
      <vt:lpstr>Problem Definition</vt:lpstr>
      <vt:lpstr>Objectives</vt:lpstr>
      <vt:lpstr>Theoretical Background</vt:lpstr>
      <vt:lpstr>Literature Survey and Research Gap</vt:lpstr>
      <vt:lpstr>Proposed System</vt:lpstr>
      <vt:lpstr>System Architecture</vt:lpstr>
      <vt:lpstr>Adaptive Coding Levels</vt:lpstr>
      <vt:lpstr>Algorithm</vt:lpstr>
      <vt:lpstr>Coding Working Example</vt:lpstr>
      <vt:lpstr>Experimental Results</vt:lpstr>
      <vt:lpstr>Result Analysis</vt:lpstr>
      <vt:lpstr>Adaptive vs Fixed Coding</vt:lpstr>
      <vt:lpstr>Key Features and Limitations</vt:lpstr>
      <vt:lpstr>Future Scope and Applications</vt:lpstr>
      <vt:lpstr>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Error Correction for High-Noise Wireless Communication</dc:title>
  <dc:subject>PptxGenJS Presentation</dc:subject>
  <dc:creator>PptxGenJS</dc:creator>
  <cp:lastModifiedBy>Amolika Shinde</cp:lastModifiedBy>
  <cp:revision>2</cp:revision>
  <dcterms:created xsi:type="dcterms:W3CDTF">2026-10-08T11:15:47Z</dcterms:created>
  <dcterms:modified xsi:type="dcterms:W3CDTF">2026-10-12T16:50:39Z</dcterms:modified>
</cp:coreProperties>
</file>